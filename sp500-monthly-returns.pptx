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292608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9611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S&amp;P 500 季節性分析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59E0B"/>
                </a:solidFill>
              </a:rPr>
              <a:t>八月，繫好安全帶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標準普爾 500 指數月均報酬率全面解析（1950–2024）</a:t>
            </a:r>
          </a:p>
          <a:p>
            <a:pPr algn="l"/>
            <a:r>
              <a:rPr sz="1800" b="0">
                <a:solidFill>
                  <a:srgbClr val="94A3B8"/>
                </a:solidFill>
              </a:rPr>
              <a:t>掌握季節性規律，在波動中做出更明智的投資決策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資料來源：Carson Investment Research／YCharts  |  截至 2025年7月30日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各月平均報酬率  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1950 年至 2024 年，四種時間維度的對照比較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3441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1950年至今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371600"/>
            <a:ext cx="164592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3441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近20年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164592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3441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近10年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164592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441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選後年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78807"/>
            <a:ext cx="10789920" cy="12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452" y="3709415"/>
            <a:ext cx="152857" cy="4693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9237" y="4131867"/>
            <a:ext cx="152857" cy="4693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5022" y="3803293"/>
            <a:ext cx="152857" cy="375513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30807" y="3897171"/>
            <a:ext cx="152857" cy="28163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1月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02612" y="4131867"/>
            <a:ext cx="152857" cy="4693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8397" y="4131867"/>
            <a:ext cx="152857" cy="4693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4182" y="4131867"/>
            <a:ext cx="152857" cy="4693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29967" y="4178807"/>
            <a:ext cx="152857" cy="7040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3068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2月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1772" y="3662475"/>
            <a:ext cx="152857" cy="5163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77557" y="3568597"/>
            <a:ext cx="152857" cy="61020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53342" y="3897171"/>
            <a:ext cx="152857" cy="28163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9127" y="3850232"/>
            <a:ext cx="152857" cy="32857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2984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3月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00932" y="3521658"/>
            <a:ext cx="152857" cy="657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76717" y="3333901"/>
            <a:ext cx="152857" cy="84490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52502" y="3615536"/>
            <a:ext cx="152857" cy="56327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28287" y="3380840"/>
            <a:ext cx="152857" cy="79796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4月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00092" y="4037989"/>
            <a:ext cx="152857" cy="14081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5877" y="3991050"/>
            <a:ext cx="152857" cy="18775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1662" y="3709415"/>
            <a:ext cx="152857" cy="4693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27447" y="3427779"/>
            <a:ext cx="152857" cy="751027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816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5月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99252" y="4131867"/>
            <a:ext cx="152857" cy="4693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75037" y="4178807"/>
            <a:ext cx="152857" cy="4693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50822" y="3662475"/>
            <a:ext cx="152857" cy="516331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6607" y="4178807"/>
            <a:ext cx="152857" cy="9387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2732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6月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8412" y="3568597"/>
            <a:ext cx="152857" cy="61020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74197" y="3005327"/>
            <a:ext cx="152857" cy="1173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49982" y="2629813"/>
            <a:ext cx="152857" cy="1548993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25767" y="3193083"/>
            <a:ext cx="152857" cy="985723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7月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97572" y="4173807"/>
            <a:ext cx="152857" cy="5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73357" y="4173807"/>
            <a:ext cx="152857" cy="5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49142" y="4131867"/>
            <a:ext cx="152857" cy="4693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24927" y="4178807"/>
            <a:ext cx="152857" cy="375513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2564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8月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96732" y="4178807"/>
            <a:ext cx="152857" cy="2346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72517" y="4178807"/>
            <a:ext cx="152857" cy="2346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48302" y="4178807"/>
            <a:ext cx="152857" cy="1173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24087" y="4178807"/>
            <a:ext cx="152857" cy="2346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2480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9月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95892" y="3756354"/>
            <a:ext cx="152857" cy="4224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71677" y="3709415"/>
            <a:ext cx="152857" cy="4693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47462" y="3474719"/>
            <a:ext cx="152857" cy="7040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23247" y="3568597"/>
            <a:ext cx="152857" cy="61020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2396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10月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95052" y="3333901"/>
            <a:ext cx="152857" cy="84490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70837" y="3146144"/>
            <a:ext cx="152857" cy="103266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146622" y="2301239"/>
            <a:ext cx="152857" cy="18775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322407" y="3427779"/>
            <a:ext cx="152857" cy="751027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2312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11月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4212" y="3521658"/>
            <a:ext cx="152857" cy="657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869997" y="3897171"/>
            <a:ext cx="152857" cy="28163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045782" y="4178807"/>
            <a:ext cx="152857" cy="4693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221567" y="4037989"/>
            <a:ext cx="152857" cy="140817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22280" y="4233807"/>
            <a:ext cx="89916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12月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85640" y="1854519"/>
            <a:ext cx="979160" cy="3880480"/>
          </a:xfrm>
          <a:prstGeom prst="rect">
            <a:avLst/>
          </a:prstGeom>
          <a:noFill/>
          <a:ln w="280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▲ 藍框標示：八月為全年最疲弱月份之一，各維度均接近 0% 或負值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三大核心發現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從歷史數據中萃取的關鍵投資洞察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35661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2000" cy="502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00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七月 — 年度最強月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24028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2C55E"/>
                </a:solidFill>
              </a:rPr>
              <a:t>+3.3%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32461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近十年平均報酬高達 +3.3%</a:t>
            </a:r>
          </a:p>
          <a:p>
            <a:pPr algn="l"/>
            <a:r>
              <a:rPr sz="1300" b="0">
                <a:solidFill>
                  <a:srgbClr val="94A3B8"/>
                </a:solidFill>
              </a:rPr>
              <a:t>在所有月份中高居首位</a:t>
            </a:r>
          </a:p>
          <a:p>
            <a:pPr algn="l"/>
            <a:r>
              <a:rPr sz="1300" b="0">
                <a:solidFill>
                  <a:srgbClr val="94A3B8"/>
                </a:solidFill>
              </a:rPr>
              <a:t>是佈局的黃金時機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1417320"/>
            <a:ext cx="35661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24528" y="1417320"/>
            <a:ext cx="52000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00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八月 — 表現最為疲弱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59E0B"/>
                </a:solidFill>
              </a:rPr>
              <a:t>≈ 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461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各時間維度均接近零報酬</a:t>
            </a:r>
          </a:p>
          <a:p>
            <a:pPr algn="l"/>
            <a:r>
              <a:rPr sz="1300" b="0">
                <a:solidFill>
                  <a:srgbClr val="94A3B8"/>
                </a:solidFill>
              </a:rPr>
              <a:t>選後年甚至出現負值</a:t>
            </a:r>
          </a:p>
          <a:p>
            <a:pPr algn="l"/>
            <a:r>
              <a:rPr sz="1300" b="0">
                <a:solidFill>
                  <a:srgbClr val="94A3B8"/>
                </a:solidFill>
              </a:rPr>
              <a:t>需提高警覺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7576" y="1417320"/>
            <a:ext cx="35661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6" y="1417320"/>
            <a:ext cx="52000" cy="5029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60020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九月 — 歷史最差月份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4028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F4444"/>
                </a:solidFill>
              </a:rPr>
              <a:t>-2.5%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32461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近十年九月均值 -2.5%</a:t>
            </a:r>
          </a:p>
          <a:p>
            <a:pPr algn="l"/>
            <a:r>
              <a:rPr sz="1300" b="0">
                <a:solidFill>
                  <a:srgbClr val="94A3B8"/>
                </a:solidFill>
              </a:rPr>
              <a:t>全年波動最大</a:t>
            </a:r>
          </a:p>
          <a:p>
            <a:pPr algn="l"/>
            <a:r>
              <a:rPr sz="1300" b="0">
                <a:solidFill>
                  <a:srgbClr val="94A3B8"/>
                </a:solidFill>
              </a:rPr>
              <a:t>風險最高的月份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八月深度解析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四個時間維度的詳細數據與風險提示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949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</a:rPr>
              <a:t>各維度平均報酬率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28840"/>
            <a:ext cx="5212080" cy="13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1950年至今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488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</a:rPr>
              <a:t>≈ 0.0%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42072"/>
            <a:ext cx="5212080" cy="13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近20年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86207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</a:rPr>
              <a:t>≈ 0.0%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55304"/>
            <a:ext cx="5212080" cy="13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7530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近10年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575304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2C55E"/>
                </a:solidFill>
              </a:rPr>
              <a:t>+0.1%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68536"/>
            <a:ext cx="5212080" cy="13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8853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選後年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288536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F4444"/>
                </a:solidFill>
              </a:rPr>
              <a:t>-0.8%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81768"/>
            <a:ext cx="5212080" cy="13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0176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全年排名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00176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</a:rPr>
              <a:t>倒數第2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463040"/>
            <a:ext cx="5577840" cy="5029200"/>
          </a:xfrm>
          <a:prstGeom prst="rect">
            <a:avLst/>
          </a:prstGeom>
          <a:solidFill>
            <a:srgbClr val="1E1010"/>
          </a:solidFill>
          <a:ln w="280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6642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CA5A5"/>
                </a:solidFill>
              </a:rPr>
              <a:t>風險警示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</a:rPr>
              <a:t>▸  選後年八月歷史表現疲弱，下行風險放大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175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</a:rPr>
              <a:t>▸  機構法人陸續休假，成交量萎縮易放大波動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490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</a:rPr>
              <a:t>▸  八九月是全年最危險區間，九月更是最差月份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805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</a:rPr>
              <a:t>▸  歷史上重大修正（1990/1998/2015）均在此發生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2120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</a:rPr>
              <a:t>▸  建議降低槓桿，保留現金等待十月後旺季反彈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四大應對策略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根據季節性規律優化投資組合配置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3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4920" y="153619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>
                <a:solidFill>
                  <a:srgbClr val="1E3A5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降低風險敞口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七月漲勢後適度獲利了結，八至九月將</a:t>
            </a:r>
          </a:p>
          <a:p>
            <a:pPr algn="l"/>
            <a:r>
              <a:rPr sz="1200" b="0">
                <a:solidFill>
                  <a:srgbClr val="94A3B8"/>
                </a:solidFill>
              </a:rPr>
              <a:t>權益類資產調降至標準配置以下。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463040"/>
            <a:ext cx="54864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463040"/>
            <a:ext cx="5486400" cy="3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63072" y="153619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>
                <a:solidFill>
                  <a:srgbClr val="1E3A5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664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增持現金與避險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267712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提高現金比例或配置短期公債、黃金等</a:t>
            </a:r>
          </a:p>
          <a:p>
            <a:pPr algn="l"/>
            <a:r>
              <a:rPr sz="1200" b="0">
                <a:solidFill>
                  <a:srgbClr val="94A3B8"/>
                </a:solidFill>
              </a:rPr>
              <a:t>避險資產，靜待更佳進場機會。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54864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5486400" cy="3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414223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>
                <a:solidFill>
                  <a:srgbClr val="1E3A5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70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蓄勢等待十一月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73752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十一月近十年均值 +4.0%，</a:t>
            </a:r>
          </a:p>
          <a:p>
            <a:pPr algn="l"/>
            <a:r>
              <a:rPr sz="1200" b="0">
                <a:solidFill>
                  <a:srgbClr val="94A3B8"/>
                </a:solidFill>
              </a:rPr>
              <a:t>十月底至十一月初是關鍵進場窗口。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4069080"/>
            <a:ext cx="54864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4069080"/>
            <a:ext cx="5486400" cy="3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63072" y="414223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>
                <a:solidFill>
                  <a:srgbClr val="1E3A5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270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紀律勝於情緒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873752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季節性規律是機率優勢，非絕對保證。</a:t>
            </a:r>
          </a:p>
          <a:p>
            <a:pPr algn="l"/>
            <a:r>
              <a:rPr sz="1200" b="0">
                <a:solidFill>
                  <a:srgbClr val="94A3B8"/>
                </a:solidFill>
              </a:rPr>
              <a:t>搭配總體面判斷，嚴守停損紀律。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0" y="5486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</a:rPr>
              <a:t>歷史不會重演，但往往押韻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74年的市場數據告訴我們：八月到九月是全年最需謹慎的兩個月。</a:t>
            </a:r>
          </a:p>
          <a:p>
            <a:pPr algn="ctr"/>
            <a:r>
              <a:rPr sz="1600" b="0">
                <a:solidFill>
                  <a:srgbClr val="94A3B8"/>
                </a:solidFill>
              </a:rPr>
              <a:t>了解季節性規律不是為了恐慌，而是為了在市場波動時，</a:t>
            </a:r>
          </a:p>
          <a:p>
            <a:pPr algn="ctr"/>
            <a:r>
              <a:rPr sz="1600" b="0">
                <a:solidFill>
                  <a:srgbClr val="94A3B8"/>
                </a:solidFill>
              </a:rPr>
              <a:t>比他人更沉著、更有準備地做出決策。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資料來源：Carson Investment Research／YCharts（1950–2024）  |  本簡報僅供參考，不構成投資建議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